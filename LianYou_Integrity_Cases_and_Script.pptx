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A5F"/>
                </a:solidFill>
                <a:latin typeface="Microsoft YaHei"/>
              </a:rPr>
              <a:t>廉洁文化宣传 · 云服务运维部门专题</a:t>
            </a:r>
          </a:p>
          <a:p>
            <a:pPr algn="ctr"/>
            <a:r>
              <a:rPr sz="2000">
                <a:solidFill>
                  <a:srgbClr val="444444"/>
                </a:solidFill>
                <a:latin typeface="Microsoft YaHei"/>
              </a:rPr>
              <a:t>具象化解读正负面清单，明确行为“红线”与“底线”</a:t>
            </a:r>
          </a:p>
          <a:p>
            <a:pPr algn="ctr"/>
            <a:r>
              <a:rPr sz="2000">
                <a:solidFill>
                  <a:srgbClr val="444444"/>
                </a:solidFill>
                <a:latin typeface="Microsoft YaHei"/>
              </a:rPr>
              <a:t>深圳联友科技有限公司 · 云服务运维部门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F3A5F"/>
                </a:solidFill>
                <a:latin typeface="Microsoft YaHei"/>
              </a:rPr>
              <a:t>第一部分：正反面案例清单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0392B"/>
                </a:solidFill>
                <a:latin typeface="Microsoft YaHei"/>
              </a:rPr>
              <a:t>反面案例（红线·底线）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  <a:latin typeface="Microsoft YaHei"/>
              </a:rPr>
              <a:t>• 利用超管/堡垒机权限私自导出客户业务库中的个人信息并出售给第三方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红线：触碰数据安全与法律，涉嫌侵犯公民个人信息罪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在服务器、云资源、带宽采购中向供应商索要或收受回扣，选定报价虚高的供应商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红线：利益输送，违反廉洁纪律与采购制度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利用机房闲置算力/服务器，私自部署挖矿程序或对外提供付费服务牟利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红线：公器私用、侵占公司资源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接受供应商安排的宴请、境外旅游、购物卡及高档礼品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底线：违反中央八项规定精神及公司廉洁规定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故障发生后篡改监控日志、伪造SLA可用率报告，隐瞒真实情况规避考核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红线：弄虚作假、欺骗客户与公司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违规将生产环境特权账号出借给外包/无关人员，且操作不留痕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底线：违反权限与变更管理制度，埋下重大安全隐患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为亲属企业或关系户开“绿色通道”，违规优先调配云资源、降价或减免费用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红线：利益冲突、利益输送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借运维之便，在客户系统中私自植入后门或留存可越权访问的通道</a:t>
            </a:r>
          </a:p>
          <a:p>
            <a:r>
              <a:rPr sz="1300" i="1">
                <a:solidFill>
                  <a:srgbClr val="C0392B"/>
                </a:solidFill>
                <a:latin typeface="Microsoft YaHei"/>
              </a:rPr>
              <a:t>    └ 红线：严重违规违法，危害客户与公司信誉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8E6E"/>
                </a:solidFill>
                <a:latin typeface="Microsoft YaHei"/>
              </a:rPr>
              <a:t>正面案例（守红线·筑底线）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  <a:latin typeface="Microsoft YaHei"/>
              </a:rPr>
              <a:t>• 巡检中发现可越权访问客户数据的漏洞，第一时间封堵并上报，未私自留存任何数据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守住数据红线、主动担责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面对供应商主动提出的“回扣/好处费”，当场拒绝并按规定向合规/纪检报备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拒腐防变、主动报告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严格执行“最小权限”与账号定期审计，主动回收冗余、过期权限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制度执行到位、源头防控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重大故障如实上报、主动认领责任、组织复盘整改，不隐瞒、不甩锅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诚信担当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在云资源/硬件招采中坚持公开比选、阳光采购，全流程留痕可追溯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公平公正、阳光透明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婉拒供应商宴请与礼品，将无法退回的礼品卡主动登记上交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严守底线、清正自律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发现同事违规出借账号，及时劝阻并通过正规渠道反映</a:t>
            </a:r>
          </a:p>
          <a:p>
            <a:r>
              <a:rPr sz="1300" i="1">
                <a:solidFill>
                  <a:srgbClr val="1E8E6E"/>
                </a:solidFill>
                <a:latin typeface="Microsoft YaHei"/>
              </a:rPr>
              <a:t>    └ 相互监督、共筑防线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F3A5F"/>
                </a:solidFill>
                <a:latin typeface="Microsoft YaHei"/>
              </a:rPr>
              <a:t>第二部分：AI 短视频剧本《云上有界》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YaHei"/>
              </a:rPr>
              <a:t>剧本概要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  <a:latin typeface="Microsoft YaHei"/>
              </a:rPr>
              <a:t>• 片名《云上有界》——红线不可越，底线必须守 ｜ 约2′30″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核心创意：把红线/底线具象成机房与云端里一道发光的线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反面动作配“✗＋红线”角标，正面动作配“✓＋蓝绿”角标，呼应正负面清单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画面可由文生图/文生视频AI生成，旁白AI配音，字幕角标后期合成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1  ｜  0-10s  ｜  大远景推近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深夜数据中心，成排服务器机柜，指示灯如星河闪烁；身穿“云服务运维部”工牌的工程师走入走廊，地面浮现一道发光的线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（旁白）“在云端，看不见的地方，有一条线。”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云之上，有界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低沉电子环境音渐入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2  ｜  10-20s  ｜  特写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特写：地面光线分裂为两道——炽红的“红线”与稳重的蓝绿“底线”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（旁白）“一条是红线，触碰即违纪违法；一条是底线，失守便满盘皆输。”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红线·不可越 ｜ 底线·必须守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心跳般低频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3  ｜  20-35s  ｜  中景＋屏幕特写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工程师在终端前，弹出“客户数据库导出”窗口，手机收到陌生人高价收购信息的短信；红线骤然逼近、泛红、警报闪烁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（旁白）“私自导出客户数据，换一时之利……”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✗ 私自导出/倒卖客户数据＝红线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警报音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4  ｜  35-45s  ｜  近景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工程师停手、关闭窗口、删除短信，红线退回原位、由红转蓝绿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（工程师 OS）“客户的数据，是托付，不是筹码。”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守住数据红线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警报消退、舒缓音起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5  ｜  45-60s  ｜  中景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供应商递上装有购物卡的礼盒与境外旅游邀请；画面右下出现“回扣”“宴请”“礼品卡”标签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（供应商）“这点心意，采购的事多关照。”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✗ 收回扣/收礼品/接受宴请＝越线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暧昧轻佻音效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6  ｜  60-72s  ｜  中近景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工程师双手推回礼盒，转身打开合规报备系统如实登记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（工程师）“谢谢，规矩比人情大。”（旁白）“阳光采购，公私分明。”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拒收回扣 · 主动报备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正向提示音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7  ｜  72-88s  ｜  屏幕特写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系统故障告警，工程师面对“篡改日志、美化SLA”的诱惑；监控曲线被一只手试图拖动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（旁白）“出了问题，是遮掩，还是面对？”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✗ 篡改日志/伪造SLA＝弄虚作假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紧张鼓点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8  ｜  88-100s  ｜  中景群像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工程师如实上报故障、组织团队复盘，白板上写下整改项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（工程师）“如实上报，才有真正的可靠。”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诚信担当 · 不隐瞒不甩锅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鼓点转明亮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9  ｜  100-115s  ｜  快切组接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正面蒙太奇：定期权限审计、回收冗余账号、公开比选供应商、最小权限上线——每个动作落下一个蓝绿“✓”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（旁白）“守好每一次权限、每一笔采购、每一行日志。”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最小权限 ｜ 阳光采购 ｜ 全程留痕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上扬节奏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10  ｜  115-135s  ｜  大全景上摇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工程师与团队并肩立于机房，脚下蓝绿底线连成一片光网，向上汇入“云”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（旁白）“红线不可越，底线必须守。守住的，是客户的信任，也是我们自己。”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深圳联友科技 · 云服务运维部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BGM 高潮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A5F"/>
                </a:solidFill>
                <a:latin typeface="Microsoft YaHei"/>
              </a:rPr>
              <a:t>镜 11  ｜  135-150s  ｜  定版画面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【画面/AI提示】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收尾定版：企业 LOGO＋主题口号，光网定格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【旁白/台词】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（旁白）“云上有界，廉洁同行。”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【字幕】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云上有界 · 廉洁同行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E8E6E"/>
                </a:solidFill>
                <a:latin typeface="Microsoft YaHei"/>
              </a:rPr>
              <a:t>【音效/BGM】 </a:t>
            </a:r>
            <a:r>
              <a:rPr sz="1500">
                <a:solidFill>
                  <a:srgbClr val="444444"/>
                </a:solidFill>
                <a:latin typeface="Microsoft YaHei"/>
              </a:rPr>
              <a:t>余音收束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YaHei"/>
              </a:rPr>
              <a:t>红线 vs 底线（片尾界定卡）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44444"/>
                </a:solidFill>
                <a:latin typeface="Microsoft YaHei"/>
              </a:rPr>
              <a:t>• 红线＝法纪不可逾越：数据倒卖、收受贿赂回扣、利益输送、弄虚作假、公器私用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底线＝职业操守与制度要求：拒收礼品宴请、严守权限审批、阳光采购、如实上报</a:t>
            </a:r>
          </a:p>
          <a:p>
            <a:r>
              <a:rPr sz="1600">
                <a:solidFill>
                  <a:srgbClr val="444444"/>
                </a:solidFill>
                <a:latin typeface="Microsoft YaHei"/>
              </a:rPr>
              <a:t>• 口号：云上有界 · 廉洁同行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